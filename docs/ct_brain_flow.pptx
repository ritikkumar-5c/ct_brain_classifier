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02A43"/>
                </a:solidFill>
                <a:latin typeface="Calibri"/>
              </a:rPr>
              <a:t>CT-Brain MIL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2E5E8C"/>
                </a:solidFill>
                <a:latin typeface="Calibri"/>
              </a:rPr>
              <a:t>Slice-handling flow — Capped (default) vs All-slices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3A44"/>
                </a:solidFill>
                <a:latin typeface="Calibri"/>
              </a:rPr>
              <a:t>MaxViT backbone  +  gated-attention MIL pooling  •  one label per studyID_seriesID set</a:t>
            </a:r>
          </a:p>
          <a:p>
            <a:pPr algn="ctr"/>
            <a:r>
              <a:rPr sz="1400" b="0" i="0">
                <a:solidFill>
                  <a:srgbClr val="333A44"/>
                </a:solidFill>
                <a:latin typeface="Calibri"/>
              </a:rPr>
              <a:t>3-channel input: brain (W80/L40) · subdural (W200/L80) · bone (W2800/L600)  →  normal / near-normal / abnormal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02A43"/>
                </a:solidFill>
                <a:latin typeface="Calibri"/>
              </a:rPr>
              <a:t>Capped slices  (default)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333A44"/>
                </a:solidFill>
                <a:latin typeface="Calibri"/>
              </a:rPr>
              <a:t>Bounded bag size → fast, batchable; relies on inter-slice redundancy.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310896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30768" y="2468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33A44"/>
                </a:solidFill>
                <a:latin typeface="Calibri"/>
              </a:rPr>
              <a:t>Shared stage</a:t>
            </a:r>
          </a:p>
        </p:txBody>
      </p:sp>
      <p:sp>
        <p:nvSpPr>
          <p:cNvPr id="6" name="Oval 5"/>
          <p:cNvSpPr/>
          <p:nvPr/>
        </p:nvSpPr>
        <p:spPr>
          <a:xfrm>
            <a:off x="10104120" y="310896"/>
            <a:ext cx="146304" cy="146304"/>
          </a:xfrm>
          <a:prstGeom prst="ellipse">
            <a:avLst/>
          </a:prstGeom>
          <a:solidFill>
            <a:srgbClr val="C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5288" y="2468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33A44"/>
                </a:solidFill>
                <a:latin typeface="Calibri"/>
              </a:rPr>
              <a:t>Differs by mode</a:t>
            </a:r>
          </a:p>
        </p:txBody>
      </p:sp>
      <p:sp>
        <p:nvSpPr>
          <p:cNvPr id="8" name="Oval 7"/>
          <p:cNvSpPr/>
          <p:nvPr/>
        </p:nvSpPr>
        <p:spPr>
          <a:xfrm>
            <a:off x="11978640" y="310896"/>
            <a:ext cx="146304" cy="146304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9808" y="2468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33A44"/>
                </a:solidFill>
                <a:latin typeface="Calibri"/>
              </a:rPr>
              <a:t>Data in /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70432"/>
            <a:ext cx="4663440" cy="457200"/>
          </a:xfrm>
          <a:prstGeom prst="roundRect">
            <a:avLst/>
          </a:prstGeom>
          <a:solidFill>
            <a:srgbClr val="3B7A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DICOM set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prepared_brain/&lt;studyID&gt;_&lt;seriesID&gt;/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152144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N slices per set — VARIES (18 … 300+). One label per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751076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index_studies()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(study_id, [slice paths], label)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732788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labels.csv: study_id,label  (normal / near-normal / abnormal)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31720"/>
            <a:ext cx="4663440" cy="457200"/>
          </a:xfrm>
          <a:prstGeom prst="roundRect">
            <a:avLst/>
          </a:prstGeom>
          <a:solidFill>
            <a:srgbClr val="C157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Slice selection — CAPPED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TRAIN: random 24   •   EVAL: even-spaced 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31343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K = min(cap, N).  Random subsample = augmentation; even spacing = deterministic eval.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12364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Per-slice render → 3 channels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HU → brain · subdural · bone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894076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resize 224×224 + ImageNet norm  →  one slice = 3 × 224 × 224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93008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Bag = stack(K slices)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K × 3 × 224 × 224  (K ≤ 32)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3474720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Anatomical order (sorted by InstanceNumber).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3652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mil_collate — pad + mask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B × maxK × 3 × 224 × 224  +  mask B×maxK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4055364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Ragged bags padded to batch max; mask marks real vs padded slices.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54296"/>
            <a:ext cx="4663440" cy="457200"/>
          </a:xfrm>
          <a:prstGeom prst="roundRect">
            <a:avLst/>
          </a:prstGeom>
          <a:solidFill>
            <a:srgbClr val="C157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MaxViT encoder — single forward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backbone(B·K images) → B × K ×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4636008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ALL slices of the batch encoded in ONE pass (memory ∝ B·K → why K is capped).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34940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Gated-attention pooling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mask→ -inf, softmax, weighted sum → B ×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521665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Collapses K slices → 1 study vector. Padding gets 0 weight. Yields per-slice attention.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15584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Classifier head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B × 3 logits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5797296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→ normal / near-normal / abnormal  (+ Grad-CAM++ on top-attended slices).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08960" y="1627632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08960" y="2208276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108960" y="2788920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08960" y="3369564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8960" y="3950208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08960" y="4530852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08960" y="5111496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08960" y="5692140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02A43"/>
                </a:solidFill>
                <a:latin typeface="Calibri"/>
              </a:rPr>
              <a:t>All slices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333A44"/>
                </a:solidFill>
                <a:latin typeface="Calibri"/>
              </a:rPr>
              <a:t>Every slice used; memory decoupled from N via batch_size=1, chunking, grad-checkpoint, AMP.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310896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30768" y="2468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33A44"/>
                </a:solidFill>
                <a:latin typeface="Calibri"/>
              </a:rPr>
              <a:t>Shared stage</a:t>
            </a:r>
          </a:p>
        </p:txBody>
      </p:sp>
      <p:sp>
        <p:nvSpPr>
          <p:cNvPr id="6" name="Oval 5"/>
          <p:cNvSpPr/>
          <p:nvPr/>
        </p:nvSpPr>
        <p:spPr>
          <a:xfrm>
            <a:off x="10104120" y="310896"/>
            <a:ext cx="146304" cy="146304"/>
          </a:xfrm>
          <a:prstGeom prst="ellipse">
            <a:avLst/>
          </a:prstGeom>
          <a:solidFill>
            <a:srgbClr val="C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5288" y="2468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33A44"/>
                </a:solidFill>
                <a:latin typeface="Calibri"/>
              </a:rPr>
              <a:t>Differs by mode</a:t>
            </a:r>
          </a:p>
        </p:txBody>
      </p:sp>
      <p:sp>
        <p:nvSpPr>
          <p:cNvPr id="8" name="Oval 7"/>
          <p:cNvSpPr/>
          <p:nvPr/>
        </p:nvSpPr>
        <p:spPr>
          <a:xfrm>
            <a:off x="11978640" y="310896"/>
            <a:ext cx="146304" cy="146304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9808" y="2468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33A44"/>
                </a:solidFill>
                <a:latin typeface="Calibri"/>
              </a:rPr>
              <a:t>Data in /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70432"/>
            <a:ext cx="4663440" cy="457200"/>
          </a:xfrm>
          <a:prstGeom prst="roundRect">
            <a:avLst/>
          </a:prstGeom>
          <a:solidFill>
            <a:srgbClr val="3B7A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DICOM set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prepared_brain/&lt;studyID&gt;_&lt;seriesID&gt;/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152144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N slices per set — VARIES (18 … 300+). One label per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751076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index_studies()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(study_id, [slice paths], label)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732788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labels.csv: study_id,label  (normal / near-normal / abnormal)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31720"/>
            <a:ext cx="4663440" cy="457200"/>
          </a:xfrm>
          <a:prstGeom prst="roundRect">
            <a:avLst/>
          </a:prstGeom>
          <a:solidFill>
            <a:srgbClr val="C157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Slice selection — ALL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all_slices=True  →  use every slice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31343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K = N (no cap). Full anatomical coverage, no subsampling.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12364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Per-slice render → 3 channels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HU → brain · subdural · bone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894076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resize 224×224 + ImageNet norm  →  one slice = 3 × 224 × 224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93008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Bag = stack(N slices)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N × 3 × 224 × 224  (N up to 300+)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3474720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Anatomical order (sorted by InstanceNumber).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3652"/>
            <a:ext cx="4663440" cy="457200"/>
          </a:xfrm>
          <a:prstGeom prst="roundRect">
            <a:avLst/>
          </a:prstGeom>
          <a:solidFill>
            <a:srgbClr val="C157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Collate — batch_size = 1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1 × N × 3 × 224 × 224 · mask all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4055364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Single bag per step → NO padding waste. grad_accum_steps recovers effective batch.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54296"/>
            <a:ext cx="4663440" cy="457200"/>
          </a:xfrm>
          <a:prstGeom prst="roundRect">
            <a:avLst/>
          </a:prstGeom>
          <a:solidFill>
            <a:srgbClr val="C157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MaxViT encoder — CHUNKED + checkpoint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loop chunks of slice_chunk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4636008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Memory O(chunk), NOT O(N). grad-checkpoint recomputes in backward; AMP autocast halves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34940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Gated-attention pooling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mask→ -inf, softmax, weighted sum → 1 ×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521665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Collapses N slices → 1 study vector. Same head; attention over ALL real slices.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15584"/>
            <a:ext cx="466344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Classifier head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1 × 3 logits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5797296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333A44"/>
                </a:solidFill>
                <a:latin typeface="Calibri"/>
              </a:rPr>
              <a:t>→ normal / near-normal / abnormal  (+ Grad-CAM++ on top-attended slices).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08960" y="1627632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08960" y="2208276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108960" y="2788920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08960" y="3369564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8960" y="3950208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08960" y="4530852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08960" y="5111496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08960" y="5692140"/>
            <a:ext cx="0" cy="123444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02A43"/>
                </a:solidFill>
                <a:latin typeface="Calibri"/>
              </a:rPr>
              <a:t>Capped vs All-slices — where they differ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1124712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114800"/>
                <a:gridCol w="429768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Capped (default)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All slices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Slices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min(cap, N): 24 train / 32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all N (no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Bag size K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≤ 32, ~uniform across sets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= N  (18 – 300+, variable)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Batching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batch_size 8 → pad to maxK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batch_size 1 (no pad) + grad_accum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Encoder pass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single forward over B·K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chunked loop + grad-checkpoint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Activation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∝ B ·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∝ chunk  (independent of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AMP optional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AMP recommended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Speed / 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slower (recompute + more slices)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33A44"/>
                          </a:solidFill>
                          <a:latin typeface="Calibri"/>
                        </a:rPr>
                        <a:t>subsampled (redundancy ok)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C1571E"/>
                          </a:solidFill>
                          <a:latin typeface="Calibri"/>
                        </a:rPr>
                        <a:t>full, no information loss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882896"/>
            <a:ext cx="11247120" cy="86868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Variable slice count is handled at 3 layers</a:t>
            </a:r>
          </a:p>
          <a:p>
            <a:pPr algn="ctr"/>
            <a:r>
              <a:rPr sz="950">
                <a:solidFill>
                  <a:srgbClr val="E9EEF5"/>
                </a:solidFill>
                <a:latin typeface="Calibri"/>
              </a:rPr>
              <a:t>(1) selection: cap or all → K   →   (2) collate: pad + mask → rectangular tensor   →   (3) masked attention: K → 1 fixed study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4301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33A44"/>
                </a:solidFill>
                <a:latin typeface="Calibri"/>
              </a:rPr>
              <a:t>All-slices flags:  --all_slices true  --batch_size 1  --slice_chunk 16  --grad_checkpoint true  --use_amp true  --grad_accum_steps 8       (cheapest: --freeze_backbone true → encode under no_grad, train head only)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