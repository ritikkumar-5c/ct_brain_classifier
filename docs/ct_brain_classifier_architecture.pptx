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FC9CF"/>
                </a:solidFill>
                <a:latin typeface="Calibri"/>
              </a:rPr>
              <a:t>MEDICAL IMAGING ·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CT Brain Study Classifier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CFDBEC"/>
                </a:solidFill>
                <a:latin typeface="Calibri"/>
              </a:rPr>
              <a:t>Training Flow &amp; 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4241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FD0E3"/>
                </a:solidFill>
                <a:latin typeface="Calibri"/>
              </a:rPr>
              <a:t>MaxViT backbone  +  Gated-Attention MIL pooling  +  Grad-CAM++ explainability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AACC4"/>
                </a:solidFill>
                <a:latin typeface="Calibri"/>
              </a:rPr>
              <a:t>Study-level, multi-slice, multi-window DICOM classifier — normal / near_normal / abnormal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CB6"/>
                </a:solidFill>
                <a:latin typeface="Calibri"/>
              </a:rPr>
              <a:t>Recipe adapted from Qari &amp; Thafar (arXiv:2507.09630), “Brain Stroke Detection and Classification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CB6"/>
                </a:solidFill>
                <a:latin typeface="Calibri"/>
              </a:rPr>
              <a:t>Using CT Imaging with Transformer Models and Explainable AI” — extended to study-level MIL on DICOM.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8D9"/>
                </a:solidFill>
                <a:latin typeface="Calibri"/>
              </a:rPr>
              <a:t>PIPELINE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End-to-End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103120" cy="1051560"/>
          </a:xfrm>
          <a:prstGeom prst="roundRect">
            <a:avLst/>
          </a:prstGeom>
          <a:solidFill>
            <a:srgbClr val="E3F0F1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DICOM Series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B6677"/>
                </a:solidFill>
                <a:latin typeface="Calibri"/>
              </a:rPr>
              <a:t>studyID / seriesID
bag of *.dcm slices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17320"/>
            <a:ext cx="1965960" cy="1051560"/>
          </a:xfrm>
          <a:prstGeom prst="roundRect">
            <a:avLst/>
          </a:prstGeom>
          <a:solidFill>
            <a:srgbClr val="E3F0F1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>HU Windowing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B6677"/>
                </a:solidFill>
                <a:latin typeface="Calibri"/>
              </a:rPr>
              <a:t>3 clinical windows
→ 3-channel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17320"/>
            <a:ext cx="1965960" cy="1051560"/>
          </a:xfrm>
          <a:prstGeom prst="roundRect">
            <a:avLst/>
          </a:prstGeom>
          <a:solidFill>
            <a:srgbClr val="E6ECFA"/>
          </a:solidFill>
          <a:ln w="15875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B59C3"/>
                </a:solidFill>
                <a:latin typeface="Calibri"/>
              </a:rPr>
              <a:t>MaxViT Encoder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B6677"/>
                </a:solidFill>
                <a:latin typeface="Calibri"/>
              </a:rPr>
              <a:t>per-slice features
(timm, 384px)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17320"/>
            <a:ext cx="2103120" cy="1051560"/>
          </a:xfrm>
          <a:prstGeom prst="roundRect">
            <a:avLst/>
          </a:prstGeom>
          <a:solidFill>
            <a:srgbClr val="EEE7F7"/>
          </a:solidFill>
          <a:ln w="1587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6A3CB5"/>
                </a:solidFill>
                <a:latin typeface="Calibri"/>
              </a:rPr>
              <a:t>Gated-Attention
MIL Pool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B6677"/>
                </a:solidFill>
                <a:latin typeface="Calibri"/>
              </a:rPr>
              <a:t>slices → 1 study
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417320"/>
            <a:ext cx="2103120" cy="1051560"/>
          </a:xfrm>
          <a:prstGeom prst="roundRect">
            <a:avLst/>
          </a:prstGeom>
          <a:solidFill>
            <a:srgbClr val="E3F1E9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>Classifier Head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5B6677"/>
                </a:solidFill>
                <a:latin typeface="Calibri"/>
              </a:rPr>
              <a:t>3-class logits
+ attention weights</a:t>
            </a:r>
          </a:p>
        </p:txBody>
      </p:sp>
      <p:cxnSp>
        <p:nvCxnSpPr>
          <p:cNvPr id="12" name="Connector 11"/>
          <p:cNvCxnSpPr>
            <a:stCxn id="7" idx="3"/>
            <a:endCxn id="8" idx="1"/>
          </p:cNvCxnSpPr>
          <p:nvPr/>
        </p:nvCxnSpPr>
        <p:spPr>
          <a:xfrm flipV="1">
            <a:off x="2514600" y="1943100"/>
            <a:ext cx="27432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8" idx="3"/>
            <a:endCxn id="9" idx="1"/>
          </p:cNvCxnSpPr>
          <p:nvPr/>
        </p:nvCxnSpPr>
        <p:spPr>
          <a:xfrm flipV="1">
            <a:off x="4754880" y="1943100"/>
            <a:ext cx="27432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9" idx="3"/>
            <a:endCxn id="10" idx="1"/>
          </p:cNvCxnSpPr>
          <p:nvPr/>
        </p:nvCxnSpPr>
        <p:spPr>
          <a:xfrm flipV="1">
            <a:off x="6995160" y="1943100"/>
            <a:ext cx="27432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10" idx="3"/>
            <a:endCxn id="11" idx="1"/>
          </p:cNvCxnSpPr>
          <p:nvPr/>
        </p:nvCxnSpPr>
        <p:spPr>
          <a:xfrm flipV="1">
            <a:off x="9372600" y="1943100"/>
            <a:ext cx="27432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2542032"/>
            <a:ext cx="11521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B6677"/>
                </a:solidFill>
                <a:latin typeface="Calibri"/>
              </a:rPr>
              <a:t>Tensor flow:   B bags × K slices × 3 × 384 × 384   →   B×K×D features   →   B×D study vector   →   B×3 logits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4612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0E7C86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46120"/>
            <a:ext cx="3657600" cy="45720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· Multi-Window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813048"/>
            <a:ext cx="3328416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Raw pixels → Hounsfield Units (slope/intercept)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Brain  W80/L40   → channel 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Subdural  W200/L80  → channel 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Bone  W2800/L600  → channel 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Replaces grayscale-replicate with clinical windows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24612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6A3CB5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246120"/>
            <a:ext cx="3657600" cy="457200"/>
          </a:xfrm>
          <a:prstGeom prst="roundRect">
            <a:avLst/>
          </a:prstGeom>
          <a:solidFill>
            <a:srgbClr val="6A3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· Multiple-Instance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13048"/>
            <a:ext cx="3328416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One label per STUDY, not per slice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MaxViT encodes every slice independently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Gated attention (Ilse 2018) pools K slices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Attention weights → which slices mattered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slice_chunk + grad-checkpoint bound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0456" y="324612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B03A3A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3246120"/>
            <a:ext cx="3657600" cy="457200"/>
          </a:xfrm>
          <a:prstGeom prst="round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· Explainability (XAI)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813048"/>
            <a:ext cx="3328416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Grad-CAM++ on deep MaxViT conv layer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stages.3.blocks.1.conv.conv2_kxk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Heatmap = WHERE in the top-attended slice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Attention bar charts = WHICH slices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• Logged to TensorBoard every N epochs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Calibri"/>
              </a:rPr>
              <a:t>CT Brain Study Classifier  ·  MaxViT + MIL + Grad-CAM++  ·  3-class (normal / near_normal / abnormal)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5566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8D9"/>
                </a:solidFill>
                <a:latin typeface="Calibri"/>
              </a:rPr>
              <a:t>MODEL  ·  models/maxvit_mil.py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MaxViT-MIL Network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931920" cy="566928"/>
          </a:xfrm>
          <a:prstGeom prst="roundRect">
            <a:avLst/>
          </a:prstGeom>
          <a:solidFill>
            <a:srgbClr val="E3F0F1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0E7C86"/>
                </a:solidFill>
                <a:latin typeface="Calibri"/>
              </a:rPr>
              <a:t>Input bag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B × K × 3 × 384 × 384  (+ mask B×K)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02536"/>
            <a:ext cx="3931920" cy="566928"/>
          </a:xfrm>
          <a:prstGeom prst="roundRect">
            <a:avLst/>
          </a:prstGeom>
          <a:solidFill>
            <a:srgbClr val="E3F0F1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0E7C86"/>
                </a:solidFill>
                <a:latin typeface="Calibri"/>
              </a:rPr>
              <a:t>Flatten slices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(B·K) × 3 × 384 × 384</a:t>
            </a:r>
          </a:p>
        </p:txBody>
      </p:sp>
      <p:cxnSp>
        <p:nvCxnSpPr>
          <p:cNvPr id="9" name="Connector 8"/>
          <p:cNvCxnSpPr>
            <a:stCxn id="7" idx="2"/>
            <a:endCxn id="8" idx="0"/>
          </p:cNvCxnSpPr>
          <p:nvPr/>
        </p:nvCxnSpPr>
        <p:spPr>
          <a:xfrm flipH="1">
            <a:off x="2468880" y="1847088"/>
            <a:ext cx="0" cy="155448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724912"/>
            <a:ext cx="3931920" cy="566928"/>
          </a:xfrm>
          <a:prstGeom prst="roundRect">
            <a:avLst/>
          </a:prstGeom>
          <a:solidFill>
            <a:srgbClr val="E6ECFA"/>
          </a:solidFill>
          <a:ln w="15875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B59C3"/>
                </a:solidFill>
                <a:latin typeface="Calibri"/>
              </a:rPr>
              <a:t>MaxViT-tiny backbone (timm)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MBConv + block-attn + grid-attn → D-dim</a:t>
            </a:r>
          </a:p>
        </p:txBody>
      </p:sp>
      <p:cxnSp>
        <p:nvCxnSpPr>
          <p:cNvPr id="11" name="Connector 10"/>
          <p:cNvCxnSpPr>
            <a:stCxn id="8" idx="2"/>
            <a:endCxn id="10" idx="0"/>
          </p:cNvCxnSpPr>
          <p:nvPr/>
        </p:nvCxnSpPr>
        <p:spPr>
          <a:xfrm flipH="1">
            <a:off x="2468880" y="2569464"/>
            <a:ext cx="0" cy="155448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447288"/>
            <a:ext cx="3931920" cy="566928"/>
          </a:xfrm>
          <a:prstGeom prst="roundRect">
            <a:avLst/>
          </a:prstGeom>
          <a:solidFill>
            <a:srgbClr val="E6ECFA"/>
          </a:solidFill>
          <a:ln w="15875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B59C3"/>
                </a:solidFill>
                <a:latin typeface="Calibri"/>
              </a:rPr>
              <a:t>Reshape + mask padding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B × K × D   (padded slices zeroed)</a:t>
            </a:r>
          </a:p>
        </p:txBody>
      </p:sp>
      <p:cxnSp>
        <p:nvCxnSpPr>
          <p:cNvPr id="13" name="Connector 12"/>
          <p:cNvCxnSpPr>
            <a:stCxn id="10" idx="2"/>
            <a:endCxn id="12" idx="0"/>
          </p:cNvCxnSpPr>
          <p:nvPr/>
        </p:nvCxnSpPr>
        <p:spPr>
          <a:xfrm flipH="1">
            <a:off x="2468880" y="3291840"/>
            <a:ext cx="0" cy="155448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169664"/>
            <a:ext cx="3931920" cy="566928"/>
          </a:xfrm>
          <a:prstGeom prst="roundRect">
            <a:avLst/>
          </a:prstGeom>
          <a:solidFill>
            <a:srgbClr val="EEE7F7"/>
          </a:solidFill>
          <a:ln w="1587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6A3CB5"/>
                </a:solidFill>
                <a:latin typeface="Calibri"/>
              </a:rPr>
              <a:t>Gated-Attention Pool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a = tanh(V·H) ⊙ σ(U·H);  Z = Σ softmax(a)·H</a:t>
            </a:r>
          </a:p>
        </p:txBody>
      </p:sp>
      <p:cxnSp>
        <p:nvCxnSpPr>
          <p:cNvPr id="15" name="Connector 14"/>
          <p:cNvCxnSpPr>
            <a:stCxn id="12" idx="2"/>
            <a:endCxn id="14" idx="0"/>
          </p:cNvCxnSpPr>
          <p:nvPr/>
        </p:nvCxnSpPr>
        <p:spPr>
          <a:xfrm flipH="1">
            <a:off x="2468880" y="4014216"/>
            <a:ext cx="0" cy="155448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4892040"/>
            <a:ext cx="3931920" cy="566928"/>
          </a:xfrm>
          <a:prstGeom prst="roundRect">
            <a:avLst/>
          </a:prstGeom>
          <a:solidFill>
            <a:srgbClr val="E3F1E9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E8B57"/>
                </a:solidFill>
                <a:latin typeface="Calibri"/>
              </a:rPr>
              <a:t>Classifier head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LayerNorm → Dropout → Linear(D, 3)</a:t>
            </a:r>
          </a:p>
        </p:txBody>
      </p:sp>
      <p:cxnSp>
        <p:nvCxnSpPr>
          <p:cNvPr id="17" name="Connector 16"/>
          <p:cNvCxnSpPr>
            <a:stCxn id="14" idx="2"/>
            <a:endCxn id="16" idx="0"/>
          </p:cNvCxnSpPr>
          <p:nvPr/>
        </p:nvCxnSpPr>
        <p:spPr>
          <a:xfrm flipH="1">
            <a:off x="2468880" y="4736592"/>
            <a:ext cx="0" cy="155448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5614416"/>
            <a:ext cx="3931920" cy="566928"/>
          </a:xfrm>
          <a:prstGeom prst="roundRect">
            <a:avLst/>
          </a:prstGeom>
          <a:solidFill>
            <a:srgbClr val="E3F1E9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E8B57"/>
                </a:solidFill>
                <a:latin typeface="Calibri"/>
              </a:rPr>
              <a:t>Outputs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logits B×3   +   attention B×K</a:t>
            </a:r>
          </a:p>
        </p:txBody>
      </p:sp>
      <p:cxnSp>
        <p:nvCxnSpPr>
          <p:cNvPr id="19" name="Connector 18"/>
          <p:cNvCxnSpPr>
            <a:stCxn id="16" idx="2"/>
            <a:endCxn id="18" idx="0"/>
          </p:cNvCxnSpPr>
          <p:nvPr/>
        </p:nvCxnSpPr>
        <p:spPr>
          <a:xfrm flipH="1">
            <a:off x="2468880" y="5458968"/>
            <a:ext cx="0" cy="155448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37760" y="1280160"/>
            <a:ext cx="6720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6A3CB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417320"/>
            <a:ext cx="6263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A3CB5"/>
                </a:solidFill>
                <a:latin typeface="Calibri"/>
              </a:rPr>
              <a:t>Gated-Attention MIL Pooling  (Ilse et al., 2018)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874519"/>
            <a:ext cx="62636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1F2B"/>
                </a:solidFill>
                <a:latin typeface="Calibri"/>
              </a:rPr>
              <a:t>Per-slice score:   aₖ = wᵀ ( tanh(V hₖ)  ⊙  sigmoid(U hₖ) 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1F2B"/>
                </a:solidFill>
                <a:latin typeface="Calibri"/>
              </a:rPr>
              <a:t>Masked softmax:   αₖ = softmax(aₖ) over REAL slices only  (padding → −∞)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1F2B"/>
                </a:solidFill>
                <a:latin typeface="Calibri"/>
              </a:rPr>
              <a:t>Study embedding:   Z = Σₖ αₖ · hₖ        (attention-weighted sum)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attn_dim = 256.   αₖ doubles as the interpretable per-slice importance.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611880"/>
            <a:ext cx="6720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B59C3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30752"/>
            <a:ext cx="6263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B59C3"/>
                </a:solidFill>
                <a:latin typeface="Calibri"/>
              </a:rPr>
              <a:t>Memory-bounded slice encoding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114800"/>
            <a:ext cx="62636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A1F2B"/>
                </a:solidFill>
                <a:latin typeface="Calibri"/>
              </a:rPr>
              <a:t>slice_chunk=96 → encode slices in chunks so activation memory is independent of bag size 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1A1F2B"/>
                </a:solidFill>
                <a:latin typeface="Calibri"/>
              </a:rPr>
              <a:t>grad_checkpoint=True (REQUIRED) → recompute backbone in backward; full fine-tune B16×K96×384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F2B"/>
                </a:solidFill>
                <a:latin typeface="Calibri"/>
              </a:rPr>
              <a:t>fits in ≈47.7 GB on an 80 GB A100 (OOMs without it). freeze_backbone option = head-only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212080"/>
            <a:ext cx="6720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5321808"/>
            <a:ext cx="6263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Backbone is swappable (paper comparison)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5687568"/>
            <a:ext cx="62636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Calibri"/>
              </a:rPr>
              <a:t>maxvit_tiny_tf_384.in1k (default)  ·  vit  ·  tnt  ·  convnext  —  via --backbone.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All loaded from timm as feature extractors (num_classes=0 → pooled embedding per slice).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Calibri"/>
              </a:rPr>
              <a:t>CT Brain Study Classifier  ·  MaxViT + MIL + Grad-CAM++  ·  3-class (normal / near_normal / abnormal)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5566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8D9"/>
                </a:solidFill>
                <a:latin typeface="Calibri"/>
              </a:rPr>
              <a:t>TRAINING  ·  train_main.py → engine/trainer.py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Training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200400" cy="822960"/>
          </a:xfrm>
          <a:prstGeom prst="roundRect">
            <a:avLst/>
          </a:prstGeom>
          <a:solidFill>
            <a:srgbClr val="E3F0F1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0E7C86"/>
                </a:solidFill>
                <a:latin typeface="Calibri"/>
              </a:rPr>
              <a:t>Build CSV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index every series folder
path, slice_size, label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280160"/>
            <a:ext cx="3749039" cy="822960"/>
          </a:xfrm>
          <a:prstGeom prst="roundRect">
            <a:avLst/>
          </a:prstGeom>
          <a:solidFill>
            <a:srgbClr val="E3F0F1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0E7C86"/>
                </a:solidFill>
                <a:latin typeface="Calibri"/>
              </a:rPr>
              <a:t>Study-grouped split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StratifiedGroupKFold 70/15/15
no patient leakage (assert disjoint)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566160" cy="822960"/>
          </a:xfrm>
          <a:prstGeom prst="roundRect">
            <a:avLst/>
          </a:prstGeom>
          <a:solidFill>
            <a:srgbClr val="E3F0F1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0E7C86"/>
                </a:solidFill>
                <a:latin typeface="Calibri"/>
              </a:rPr>
              <a:t>Index studies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(sid, [slice paths], label)
+ inverse-freq class weights</a:t>
            </a:r>
          </a:p>
        </p:txBody>
      </p:sp>
      <p:cxnSp>
        <p:nvCxnSpPr>
          <p:cNvPr id="10" name="Connector 9"/>
          <p:cNvCxnSpPr>
            <a:stCxn id="7" idx="3"/>
            <a:endCxn id="8" idx="1"/>
          </p:cNvCxnSpPr>
          <p:nvPr/>
        </p:nvCxnSpPr>
        <p:spPr>
          <a:xfrm flipV="1">
            <a:off x="3657600" y="1691640"/>
            <a:ext cx="36576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8" idx="3"/>
            <a:endCxn id="9" idx="1"/>
          </p:cNvCxnSpPr>
          <p:nvPr/>
        </p:nvCxnSpPr>
        <p:spPr>
          <a:xfrm flipV="1">
            <a:off x="7772399" y="1691640"/>
            <a:ext cx="365761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514600"/>
            <a:ext cx="3200400" cy="914400"/>
          </a:xfrm>
          <a:prstGeom prst="roundRect">
            <a:avLst/>
          </a:prstGeom>
          <a:solidFill>
            <a:srgbClr val="E6ECFA"/>
          </a:solidFill>
          <a:ln w="15875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B59C3"/>
                </a:solidFill>
                <a:latin typeface="Calibri"/>
              </a:rPr>
              <a:t>StudyMILDataset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sort by InstanceNumber
sample ≤96 slices → windows → aug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514600"/>
            <a:ext cx="3749039" cy="914400"/>
          </a:xfrm>
          <a:prstGeom prst="roundRect">
            <a:avLst/>
          </a:prstGeom>
          <a:solidFill>
            <a:srgbClr val="E6ECFA"/>
          </a:solidFill>
          <a:ln w="15875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B59C3"/>
                </a:solidFill>
                <a:latin typeface="Calibri"/>
              </a:rPr>
              <a:t>Length-bucketed batches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group similar bag sizes
mil_collate → pad + attention mask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14600"/>
            <a:ext cx="3566160" cy="914400"/>
          </a:xfrm>
          <a:prstGeom prst="roundRect">
            <a:avLst/>
          </a:prstGeom>
          <a:solidFill>
            <a:srgbClr val="E6ECFA"/>
          </a:solidFill>
          <a:ln w="15875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B59C3"/>
                </a:solidFill>
                <a:latin typeface="Calibri"/>
              </a:rPr>
              <a:t>Forward pass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MaxViT-MIL → logits
(AMP autocast, fp16)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57400" y="2103120"/>
            <a:ext cx="0" cy="41148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2" idx="3"/>
            <a:endCxn id="13" idx="1"/>
          </p:cNvCxnSpPr>
          <p:nvPr/>
        </p:nvCxnSpPr>
        <p:spPr>
          <a:xfrm flipV="1">
            <a:off x="3657600" y="2971800"/>
            <a:ext cx="36576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13" idx="3"/>
            <a:endCxn id="14" idx="1"/>
          </p:cNvCxnSpPr>
          <p:nvPr/>
        </p:nvCxnSpPr>
        <p:spPr>
          <a:xfrm flipV="1">
            <a:off x="7772399" y="2971800"/>
            <a:ext cx="365761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886200"/>
            <a:ext cx="2514600" cy="914400"/>
          </a:xfrm>
          <a:prstGeom prst="roundRect">
            <a:avLst/>
          </a:prstGeom>
          <a:solidFill>
            <a:srgbClr val="FAF0DD"/>
          </a:solidFill>
          <a:ln w="15875">
            <a:solidFill>
              <a:srgbClr val="C9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C97A0E"/>
                </a:solidFill>
                <a:latin typeface="Calibri"/>
              </a:rPr>
              <a:t>Loss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weighted_ce / focal /
cost_sensitive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3886200"/>
            <a:ext cx="2651760" cy="914400"/>
          </a:xfrm>
          <a:prstGeom prst="roundRect">
            <a:avLst/>
          </a:prstGeom>
          <a:solidFill>
            <a:srgbClr val="FAF0DD"/>
          </a:solidFill>
          <a:ln w="15875">
            <a:solidFill>
              <a:srgbClr val="C9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C97A0E"/>
                </a:solidFill>
                <a:latin typeface="Calibri"/>
              </a:rPr>
              <a:t>Backward + step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GradScaler · clip 1.0
AdamW · grad-checkpoint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2468880" cy="914400"/>
          </a:xfrm>
          <a:prstGeom prst="roundRect">
            <a:avLst/>
          </a:prstGeom>
          <a:solidFill>
            <a:srgbClr val="FAF0DD"/>
          </a:solidFill>
          <a:ln w="15875">
            <a:solidFill>
              <a:srgbClr val="C9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C97A0E"/>
                </a:solidFill>
                <a:latin typeface="Calibri"/>
              </a:rPr>
              <a:t>Cosine LR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warmup 2 ep
→ cosine decay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3886200"/>
            <a:ext cx="2788920" cy="914400"/>
          </a:xfrm>
          <a:prstGeom prst="roundRect">
            <a:avLst/>
          </a:prstGeom>
          <a:solidFill>
            <a:srgbClr val="E3F1E9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E8B57"/>
                </a:solidFill>
                <a:latin typeface="Calibri"/>
              </a:rPr>
              <a:t>Validate / epoch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compute_metrics
TensorBoard scalars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21240" y="3429000"/>
            <a:ext cx="0" cy="18288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37360" y="3611880"/>
            <a:ext cx="818388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37360" y="3611880"/>
            <a:ext cx="0" cy="27432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8" idx="3"/>
            <a:endCxn id="19" idx="1"/>
          </p:cNvCxnSpPr>
          <p:nvPr/>
        </p:nvCxnSpPr>
        <p:spPr>
          <a:xfrm flipV="1">
            <a:off x="2971800" y="4343400"/>
            <a:ext cx="27432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9" idx="3"/>
            <a:endCxn id="20" idx="1"/>
          </p:cNvCxnSpPr>
          <p:nvPr/>
        </p:nvCxnSpPr>
        <p:spPr>
          <a:xfrm flipV="1">
            <a:off x="5897880" y="4343400"/>
            <a:ext cx="27432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20" idx="3"/>
            <a:endCxn id="21" idx="1"/>
          </p:cNvCxnSpPr>
          <p:nvPr/>
        </p:nvCxnSpPr>
        <p:spPr>
          <a:xfrm flipV="1">
            <a:off x="8641080" y="4343400"/>
            <a:ext cx="27432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257800"/>
            <a:ext cx="3657600" cy="960120"/>
          </a:xfrm>
          <a:prstGeom prst="roundRect">
            <a:avLst/>
          </a:prstGeom>
          <a:solidFill>
            <a:srgbClr val="EEE7F7"/>
          </a:solidFill>
          <a:ln w="1587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6A3CB5"/>
                </a:solidFill>
                <a:latin typeface="Calibri"/>
              </a:rPr>
              <a:t>Checkpoint &amp; early-stop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monitor = balanced_acc ↑
save best.pt / last.pt · patience 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5257800"/>
            <a:ext cx="3291840" cy="960120"/>
          </a:xfrm>
          <a:prstGeom prst="roundRect">
            <a:avLst/>
          </a:prstGeom>
          <a:solidFill>
            <a:srgbClr val="F7E6E6"/>
          </a:solidFill>
          <a:ln w="15875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B03A3A"/>
                </a:solidFill>
                <a:latin typeface="Calibri"/>
              </a:rPr>
              <a:t>XAI logging (every N ep)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Grad-CAM++ overlays +
MIL attention 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257800"/>
            <a:ext cx="3657600" cy="960120"/>
          </a:xfrm>
          <a:prstGeom prst="roundRect">
            <a:avLst/>
          </a:prstGeom>
          <a:solidFill>
            <a:srgbClr val="E3F1E9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2E8B57"/>
                </a:solidFill>
                <a:latin typeface="Calibri"/>
              </a:rPr>
              <a:t>Held-out TEST (best ckpt)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metrics + clinical operating point
@ 0.95 not-normal sensitivity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309860" y="4800600"/>
            <a:ext cx="0" cy="45720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28800" y="4718304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7"/>
                </a:solidFill>
                <a:latin typeface="Calibri"/>
              </a:rPr>
              <a:t>↻  repeat up to 50 epochs (early stop on no improvement)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Calibri"/>
              </a:rPr>
              <a:t>CT Brain Study Classifier  ·  MaxViT + MIL + Grad-CAM++  ·  3-class (normal / near_normal / abnormal)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5566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8D9"/>
                </a:solidFill>
                <a:latin typeface="Calibri"/>
              </a:rPr>
              <a:t>CONFIGURATION  ·  config.py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Training Recipe &amp; Clinical Decision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86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B59C3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B59C3"/>
                </a:solidFill>
                <a:latin typeface="Calibri"/>
              </a:rPr>
              <a:t>Hyperparameters (defaults)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solidFill>
            <a:srgbClr val="F0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653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maxvit_tiny_tf_384.in1k  ·  pretrained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225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225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384×384  ·  3 HU-window channels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5120640" cy="457200"/>
          </a:xfrm>
          <a:prstGeom prst="rect">
            <a:avLst/>
          </a:prstGeom>
          <a:solidFill>
            <a:srgbClr val="F0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797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Bag size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7797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≤96 slices/study (random train / even eval)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2369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Optimizer / LR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2369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AdamW  ·  3e-4  ·  wd 1e-4  ·  cosine+warmup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5120640" cy="457200"/>
          </a:xfrm>
          <a:prstGeom prst="rect">
            <a:avLst/>
          </a:prstGeom>
          <a:solidFill>
            <a:srgbClr val="F0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6941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Batch / epochs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6941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16 studies  ·  50 (early stop 10)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513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Regularization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1513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dropout 0.04  ·  label smoothing 0.05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120640" cy="457200"/>
          </a:xfrm>
          <a:prstGeom prst="rect">
            <a:avLst/>
          </a:prstGeom>
          <a:solidFill>
            <a:srgbClr val="F0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085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Augmentation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6085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hflip · rot ±15° · crop 0.85 · HU-jitter 0.05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0657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0657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grad-checkpoint · slice_chunk 96 · AMP fp16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86400"/>
            <a:ext cx="5120640" cy="457200"/>
          </a:xfrm>
          <a:prstGeom prst="rect">
            <a:avLst/>
          </a:prstGeom>
          <a:solidFill>
            <a:srgbClr val="F0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522976"/>
            <a:ext cx="1691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59C3"/>
                </a:solidFill>
                <a:latin typeface="Calibri"/>
              </a:rPr>
              <a:t>Class weights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522976"/>
            <a:ext cx="3246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A1F2B"/>
                </a:solidFill>
                <a:latin typeface="Calibri"/>
              </a:rPr>
              <a:t>inverse-frequency (≈1 : 1.7 : 2.1)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1234440"/>
            <a:ext cx="54406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C97A0E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1325880"/>
            <a:ext cx="50383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97A0E"/>
                </a:solidFill>
                <a:latin typeface="Calibri"/>
              </a:rPr>
              <a:t>Loss   —   --loss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1691640"/>
            <a:ext cx="5038344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weighted_ce (default) — CE × inverse-freq + smoothing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focal — (1−p)^γ CE for hard examples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cost_sensitive — expected-cost; under-calling abnormal→normal = 5×, near_normal→normal = 3×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852928"/>
            <a:ext cx="54406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6A3CB5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2944368"/>
            <a:ext cx="50383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A3CB5"/>
                </a:solidFill>
                <a:latin typeface="Calibri"/>
              </a:rPr>
              <a:t>Checkpoint selector   —   --monitor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3310128"/>
            <a:ext cx="5038344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balanced_acc (default) = mean per-class recall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677"/>
                </a:solidFill>
                <a:latin typeface="Calibri"/>
              </a:rPr>
              <a:t>Rewards recall on near_normal/abnormal; can't be gamed by over-calling.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Alternatives: f1 · not_normal_sensitivity · accuracy · auc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471416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8" y="4562856"/>
            <a:ext cx="50383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Clinical operating point (test only)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928616"/>
            <a:ext cx="5038344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Score pathology as s = 1 − P(normal).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Pick threshold on VAL for ≥95% not-normal sensitivity,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apply to TEST → report op_test_sensitivity / specificity (no leakage).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8B57"/>
                </a:solidFill>
                <a:latin typeface="Calibri"/>
              </a:rPr>
              <a:t>“At 95% pathology sensitivity, here is the false-alarm rate.”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Calibri"/>
              </a:rPr>
              <a:t>CT Brain Study Classifier  ·  MaxViT + MIL + Grad-CAM++  ·  3-class (normal / near_normal / abnormal)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5566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8D9"/>
                </a:solidFill>
                <a:latin typeface="Calibri"/>
              </a:rPr>
              <a:t>EVALUATION  ·  engine/metrics.py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Metrics — What Each One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677"/>
                </a:solidFill>
                <a:latin typeface="Calibri"/>
              </a:rPr>
              <a:t>Every metric is logged per epoch to TensorBoard. Class index 0 = normal; “pathology” = near_normal or abnormal.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11292840" cy="384048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55064"/>
            <a:ext cx="21488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655064"/>
            <a:ext cx="43891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Plain-English 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1655064"/>
            <a:ext cx="42062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How it is computed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11292840" cy="420624"/>
          </a:xfrm>
          <a:prstGeom prst="rect">
            <a:avLst/>
          </a:prstGeom>
          <a:solidFill>
            <a:srgbClr val="EEF1F6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029968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029968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Fraction of studies whose top prediction is correct.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029968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correct / total  (argmax)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32304"/>
            <a:ext cx="11292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450592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precision (macro)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50592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When a class is predicted, how often it's right — averaged over classes.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2450592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mean per-class TP / (TP+FP)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2928"/>
            <a:ext cx="11292840" cy="420624"/>
          </a:xfrm>
          <a:prstGeom prst="rect">
            <a:avLst/>
          </a:prstGeom>
          <a:solidFill>
            <a:srgbClr val="EEF1F6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7121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recall (macro)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2871216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Of each class's true cases, how many were caught — averaged equally.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871216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mean per-class TP / (TP+FN)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73552"/>
            <a:ext cx="11292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291840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f1 (macro)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3291840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Balance of precision &amp; recall, averaged over classes.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3291840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mean 2PR / (P+R)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94176"/>
            <a:ext cx="11292840" cy="420624"/>
          </a:xfrm>
          <a:prstGeom prst="rect">
            <a:avLst/>
          </a:prstGeom>
          <a:solidFill>
            <a:srgbClr val="FAF0DD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712464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97A0E"/>
                </a:solidFill>
                <a:latin typeface="Calibri"/>
              </a:rPr>
              <a:t>balanced_acc 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3712464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Mean recall across all 3 classes — the checkpoint selector.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3712464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mean( recall per class 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11292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133088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recall_&lt;class&gt;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98648" y="4133088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Per-class sensitivity: recall_normal / _near_normal / _abnormal.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4133088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TP_class / (TP+FN)_class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35424"/>
            <a:ext cx="11292840" cy="420624"/>
          </a:xfrm>
          <a:prstGeom prst="rect">
            <a:avLst/>
          </a:prstGeom>
          <a:solidFill>
            <a:srgbClr val="EEF1F6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553712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not_normal_sensitivity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8648" y="4553712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Of all true pathology, fraction flagged as NOT normal. (don't-miss)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8" y="4553712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pred≠normal &amp; true≠normal / all path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56048"/>
            <a:ext cx="11292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97433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normal_specificity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98648" y="4974336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Of all true normals, fraction correctly called normal. (false-alarm)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0648" y="4974336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pred=normal &amp; true=normal / all normal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76672"/>
            <a:ext cx="11292840" cy="420624"/>
          </a:xfrm>
          <a:prstGeom prst="rect">
            <a:avLst/>
          </a:prstGeom>
          <a:solidFill>
            <a:srgbClr val="EEF1F6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5394960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B59C3"/>
                </a:solidFill>
                <a:latin typeface="Calibri"/>
              </a:rPr>
              <a:t>auc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98648" y="5394960"/>
            <a:ext cx="4389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Ranking quality, threshold-free. Macro one-vs-rest for 3 classes.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0648" y="5394960"/>
            <a:ext cx="4206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677"/>
                </a:solidFill>
                <a:latin typeface="Calibri"/>
              </a:rPr>
              <a:t>roc_auc_score(ovr, macro)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43016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97A0E"/>
                </a:solidFill>
                <a:latin typeface="Calibri"/>
              </a:rPr>
              <a:t>★ balanced_acc is the default --monitor: it rewards recall on every class and CANNOT be gamed by over-calling pathology (that would crush normal recall).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Calibri"/>
              </a:rPr>
              <a:t>CT Brain Study Classifier  ·  MaxViT + MIL + Grad-CAM++  ·  3-class (normal / near_normal / abnormal)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5566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8D9"/>
                </a:solidFill>
                <a:latin typeface="Calibri"/>
              </a:rPr>
              <a:t>OPTIMIZATION  ·  engine/losses.py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Loss Functions — Three Choices via --loss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70332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59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B59C3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3703320" cy="457200"/>
          </a:xfrm>
          <a:prstGeom prst="roundRect">
            <a:avLst/>
          </a:prstGeom>
          <a:solidFill>
            <a:srgbClr val="2B5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weighted_ce   ·  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333756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Cross-entropy weighted by inverse class frequency, plus label smoothing 0.05.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59C3"/>
                </a:solidFill>
                <a:latin typeface="Calibri"/>
              </a:rPr>
              <a:t>L = Σ wᵧ · CE(logits, y)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59C3"/>
                </a:solidFill>
                <a:latin typeface="Calibri"/>
              </a:rPr>
              <a:t>wᵧ = N / (C · countᵧ)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Use when: imbalance is the main issue and error costs are symmetric.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70332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6A3CB5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703320" cy="457200"/>
          </a:xfrm>
          <a:prstGeom prst="roundRect">
            <a:avLst/>
          </a:prstGeom>
          <a:solidFill>
            <a:srgbClr val="6A3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focal   ·   HARD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47088"/>
            <a:ext cx="333756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Down-weights easy, confident cases so training focuses on hard ones.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6A3CB5"/>
                </a:solidFill>
                <a:latin typeface="Calibri"/>
              </a:rPr>
              <a:t>L = (1 − pₜ)^γ · CE      (γ = 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Risky here: amplifies the noisy normal ↔ near_normal boundary. Off by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280160"/>
            <a:ext cx="370332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B03A3A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280160"/>
            <a:ext cx="3703320" cy="457200"/>
          </a:xfrm>
          <a:prstGeom prst="round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cost_sensitive   ·   CLINICAL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47088"/>
            <a:ext cx="333756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Minimizes EXPECTED cost under a cost matrix — missing pathology is expensive.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03A3A"/>
                </a:solidFill>
                <a:latin typeface="Calibri"/>
              </a:rPr>
              <a:t>L = E_j[ pⱼ · C[y, j] ] + λ·CE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03A3A"/>
                </a:solidFill>
                <a:latin typeface="Calibri"/>
              </a:rPr>
              <a:t>λ = 0.3  (stability / calibration)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Use when: under-calling pathology to normal must be punished hardest.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22191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3A3A"/>
                </a:solidFill>
                <a:latin typeface="Calibri"/>
              </a:rPr>
              <a:t>cost_sensitive — the cost matrix  C[true, predicted]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31920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677"/>
                </a:solidFill>
                <a:latin typeface="Calibri"/>
              </a:rPr>
              <a:t>predicted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8795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A1F2B"/>
                </a:solidFill>
                <a:latin typeface="Calibri"/>
              </a:rPr>
              <a:t>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8795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A1F2B"/>
                </a:solidFill>
                <a:latin typeface="Calibri"/>
              </a:rPr>
              <a:t>near_norm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18795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A1F2B"/>
                </a:solidFill>
                <a:latin typeface="Calibri"/>
              </a:rPr>
              <a:t>abnormal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49884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A1F2B"/>
                </a:solidFill>
                <a:latin typeface="Calibri"/>
              </a:rPr>
              <a:t>normal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4498848"/>
            <a:ext cx="528640" cy="528640"/>
          </a:xfrm>
          <a:prstGeom prst="rect">
            <a:avLst/>
          </a:prstGeom>
          <a:solidFill>
            <a:srgbClr val="E8ECF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B6677"/>
                </a:solidFill>
                <a:latin typeface="Calibri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4498848"/>
            <a:ext cx="528640" cy="528640"/>
          </a:xfrm>
          <a:prstGeom prst="rect">
            <a:avLst/>
          </a:prstGeom>
          <a:solidFill>
            <a:srgbClr val="FCEFD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C97A0E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498848"/>
            <a:ext cx="528640" cy="528640"/>
          </a:xfrm>
          <a:prstGeom prst="rect">
            <a:avLst/>
          </a:prstGeom>
          <a:solidFill>
            <a:srgbClr val="FCEFD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C97A0E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04748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A1F2B"/>
                </a:solidFill>
                <a:latin typeface="Calibri"/>
              </a:rPr>
              <a:t>near_norm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5047488"/>
            <a:ext cx="528640" cy="528640"/>
          </a:xfrm>
          <a:prstGeom prst="rect">
            <a:avLst/>
          </a:prstGeom>
          <a:solidFill>
            <a:srgbClr val="F3CFC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B03A3A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5047488"/>
            <a:ext cx="528640" cy="528640"/>
          </a:xfrm>
          <a:prstGeom prst="rect">
            <a:avLst/>
          </a:prstGeom>
          <a:solidFill>
            <a:srgbClr val="E8ECF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B6677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047488"/>
            <a:ext cx="528640" cy="528640"/>
          </a:xfrm>
          <a:prstGeom prst="rect">
            <a:avLst/>
          </a:prstGeom>
          <a:solidFill>
            <a:srgbClr val="FCEFD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C97A0E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59612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A1F2B"/>
                </a:solidFill>
                <a:latin typeface="Calibri"/>
              </a:rPr>
              <a:t>abnormal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5596128"/>
            <a:ext cx="528640" cy="528640"/>
          </a:xfrm>
          <a:prstGeom prst="rect">
            <a:avLst/>
          </a:prstGeom>
          <a:solidFill>
            <a:srgbClr val="F3CFC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B03A3A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5596128"/>
            <a:ext cx="528640" cy="528640"/>
          </a:xfrm>
          <a:prstGeom prst="rect">
            <a:avLst/>
          </a:prstGeom>
          <a:solidFill>
            <a:srgbClr val="FCEFD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C97A0E"/>
                </a:solidFill>
                <a:latin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5596128"/>
            <a:ext cx="528640" cy="528640"/>
          </a:xfrm>
          <a:prstGeom prst="rect">
            <a:avLst/>
          </a:prstGeom>
          <a:solidFill>
            <a:srgbClr val="E8ECF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B6677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90488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677"/>
                </a:solidFill>
                <a:latin typeface="Calibri"/>
              </a:rPr>
              <a:t>rows = true class,  columns = predicted class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572000"/>
            <a:ext cx="7040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B03A3A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4681728"/>
            <a:ext cx="667512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03A3A"/>
                </a:solidFill>
                <a:latin typeface="Calibri"/>
              </a:rPr>
              <a:t>Reading the matrix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Calibri"/>
              </a:rPr>
              <a:t>•  Diagonal = 0  → correct predictions are free.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Calibri"/>
              </a:rPr>
              <a:t>•  Generic mistake = 1  → ordinary errors cost the same baseline.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03A3A"/>
                </a:solidFill>
                <a:latin typeface="Calibri"/>
              </a:rPr>
              <a:t>•  abnormal → normal = 5  → the worst possible miss (missed a real pathology).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03A3A"/>
                </a:solidFill>
                <a:latin typeface="Calibri"/>
              </a:rPr>
              <a:t>•  near_normal → normal = 3  → also heavily penalized.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7"/>
                </a:solidFill>
                <a:latin typeface="Calibri"/>
              </a:rPr>
              <a:t>Result: the model is pushed to keep probability mass OFF ‘normal’ for any case that might be pathological — exactly the clinical priority.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Calibri"/>
              </a:rPr>
              <a:t>CT Brain Study Classifier  ·  MaxViT + MIL + Grad-CAM++  ·  3-class (normal / near_normal / abnormal)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5566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8D9"/>
                </a:solidFill>
                <a:latin typeface="Calibri"/>
              </a:rPr>
              <a:t>CLINICAL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Decision Logic — Division of Labour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7"/>
                </a:solidFill>
                <a:latin typeface="Calibri"/>
              </a:rPr>
              <a:t>Three independent mechanisms each solve one part of “build a model that does not miss pathology.”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27632"/>
            <a:ext cx="370332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C97A0E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27632"/>
            <a:ext cx="3703320" cy="713232"/>
          </a:xfrm>
          <a:prstGeom prst="round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 · LOSS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trains the right error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50592"/>
            <a:ext cx="3300984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cost_sensitive makes under-calling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pathology→normal expensive.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→ shapes WHAT mistakes the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   is willing to make.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2331720"/>
            <a:ext cx="2194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5B6677"/>
                </a:solidFill>
                <a:latin typeface="Calibr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27632"/>
            <a:ext cx="370332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6A3CB5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27632"/>
            <a:ext cx="3703320" cy="713232"/>
          </a:xfrm>
          <a:prstGeom prst="roundRect">
            <a:avLst/>
          </a:prstGeom>
          <a:solidFill>
            <a:srgbClr val="6A3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 · MONITOR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picks the best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450592"/>
            <a:ext cx="3300984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balanced_acc = mean per-class recall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selects the best.pt checkpoint &amp;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drives early stopping.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→ picks the best-DISCRIMINATING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2331720"/>
            <a:ext cx="2194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5B667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627632"/>
            <a:ext cx="370332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627632"/>
            <a:ext cx="3703320" cy="71323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 · OPERATING POINT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sets the decision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450592"/>
            <a:ext cx="3300984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Tune threshold on val for ≥95%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pathology sensitivity, report on test.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→ sets the decision threshold to the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Calibri"/>
              </a:rPr>
              <a:t>   sensitivity clinicians require.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Operating point — step by step (no test leakage)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15968"/>
            <a:ext cx="21031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0E7C86"/>
                </a:solidFill>
                <a:latin typeface="Calibri"/>
              </a:rPr>
              <a:t>Score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s = 1 − P(normal)
per study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4315968"/>
            <a:ext cx="21031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0E7C86"/>
                </a:solidFill>
                <a:latin typeface="Calibri"/>
              </a:rPr>
              <a:t>Sweep val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ROC over thresholds
on held-out val</a:t>
            </a:r>
          </a:p>
        </p:txBody>
      </p:sp>
      <p:cxnSp>
        <p:nvCxnSpPr>
          <p:cNvPr id="22" name="Connector 21"/>
          <p:cNvCxnSpPr>
            <a:stCxn id="20" idx="3"/>
            <a:endCxn id="21" idx="1"/>
          </p:cNvCxnSpPr>
          <p:nvPr/>
        </p:nvCxnSpPr>
        <p:spPr>
          <a:xfrm flipV="1">
            <a:off x="2560320" y="4773168"/>
            <a:ext cx="164592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92624" y="4315968"/>
            <a:ext cx="21031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6A3CB5"/>
                </a:solidFill>
                <a:latin typeface="Calibri"/>
              </a:rPr>
              <a:t>Choose thr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max specificity s.t.
sensitivity ≥ 0.95</a:t>
            </a:r>
          </a:p>
        </p:txBody>
      </p:sp>
      <p:cxnSp>
        <p:nvCxnSpPr>
          <p:cNvPr id="24" name="Connector 23"/>
          <p:cNvCxnSpPr>
            <a:stCxn id="21" idx="3"/>
            <a:endCxn id="23" idx="1"/>
          </p:cNvCxnSpPr>
          <p:nvPr/>
        </p:nvCxnSpPr>
        <p:spPr>
          <a:xfrm flipV="1">
            <a:off x="4828032" y="4773168"/>
            <a:ext cx="164592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60336" y="4315968"/>
            <a:ext cx="21031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C97A0E"/>
                </a:solidFill>
                <a:latin typeface="Calibri"/>
              </a:rPr>
              <a:t>Freeze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lock that single
threshold</a:t>
            </a:r>
          </a:p>
        </p:txBody>
      </p:sp>
      <p:cxnSp>
        <p:nvCxnSpPr>
          <p:cNvPr id="26" name="Connector 25"/>
          <p:cNvCxnSpPr>
            <a:stCxn id="23" idx="3"/>
            <a:endCxn id="25" idx="1"/>
          </p:cNvCxnSpPr>
          <p:nvPr/>
        </p:nvCxnSpPr>
        <p:spPr>
          <a:xfrm flipV="1">
            <a:off x="7095744" y="4773168"/>
            <a:ext cx="164592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28048" y="4315968"/>
            <a:ext cx="21031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2E8B57"/>
                </a:solidFill>
                <a:latin typeface="Calibri"/>
              </a:rPr>
              <a:t>Apply to test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5B6677"/>
                </a:solidFill>
                <a:latin typeface="Calibri"/>
              </a:rPr>
              <a:t>report op_test_
sensitivity / specificity</a:t>
            </a:r>
          </a:p>
        </p:txBody>
      </p:sp>
      <p:cxnSp>
        <p:nvCxnSpPr>
          <p:cNvPr id="28" name="Connector 27"/>
          <p:cNvCxnSpPr>
            <a:stCxn id="25" idx="3"/>
            <a:endCxn id="27" idx="1"/>
          </p:cNvCxnSpPr>
          <p:nvPr/>
        </p:nvCxnSpPr>
        <p:spPr>
          <a:xfrm flipV="1">
            <a:off x="9363456" y="4773168"/>
            <a:ext cx="164592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" y="5532120"/>
            <a:ext cx="11292840" cy="713232"/>
          </a:xfrm>
          <a:prstGeom prst="roundRect">
            <a:avLst/>
          </a:prstGeom>
          <a:solidFill>
            <a:srgbClr val="E3F1E9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05272"/>
            <a:ext cx="1097280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F2B"/>
                </a:solidFill>
                <a:latin typeface="Calibri"/>
              </a:rPr>
              <a:t>Why on val, applied to test?  Choosing the threshold on one split and reporting on another removes optimistic bias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8B57"/>
                </a:solidFill>
                <a:latin typeface="Calibri"/>
              </a:rPr>
              <a:t>it yields the defensible statement: “At 95% pathology sensitivity, the model's false-alarm rate on unseen data is X.”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677"/>
                </a:solidFill>
                <a:latin typeface="Calibri"/>
              </a:rPr>
              <a:t>CT Brain Study Classifier  ·  MaxViT + MIL + Grad-CAM++  ·  3-class (normal / near_normal / abnormal)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55664"/>
            <a:ext cx="6400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